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1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6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Monthly Revenue with 6-Month Forecast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Actual Revenue (R$M)</c:v>
                </c:pt>
              </c:strCache>
            </c:strRef>
          </c:tx>
          <c:spPr>
            <a:ln w="38100" cap="flat">
              <a:solidFill>
                <a:srgbClr val="02809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strRef>
              <c:f>Sheet1!$A$2:$A$8</c:f>
              <c:strCache>
                <c:ptCount val="7"/>
                <c:pt idx="0">
                  <c:v>Jan'17</c:v>
                </c:pt>
                <c:pt idx="1">
                  <c:v>Apr'17</c:v>
                </c:pt>
                <c:pt idx="2">
                  <c:v>Jul'17</c:v>
                </c:pt>
                <c:pt idx="3">
                  <c:v>Oct'17</c:v>
                </c:pt>
                <c:pt idx="4">
                  <c:v>Jan'18</c:v>
                </c:pt>
                <c:pt idx="5">
                  <c:v>Apr'18</c:v>
                </c:pt>
                <c:pt idx="6">
                  <c:v>Jul'18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0.09</c:v>
                </c:pt>
                <c:pt idx="1">
                  <c:v>0.25</c:v>
                </c:pt>
                <c:pt idx="2">
                  <c:v>0.45</c:v>
                </c:pt>
                <c:pt idx="3">
                  <c:v>0.62</c:v>
                </c:pt>
                <c:pt idx="4">
                  <c:v>1.2</c:v>
                </c:pt>
                <c:pt idx="5">
                  <c:v>0.9</c:v>
                </c:pt>
                <c:pt idx="6">
                  <c:v>0.75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4EF-4787-9E0F-6E5E1B433A8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EFF6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2788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89B94C-0460-5E82-DD19-092C63EBA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1F4412-8454-6C5E-242F-DFAF8813BC7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996008C-B49D-E6DC-20D4-202483C7C8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98A9B-5E94-33B4-8BCB-F0D6FA46B38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4111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app.powerbi.com/reportEmbed?reportId=04626b64-0902-41bd-8d91-9f489b4989da&amp;autoAuth=true&amp;ctid=e9b87214-8e8f-4ad0-90ec-9d5c56c94931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hyperlink" Target="mailto:dpatel49@umbc.edu" TargetMode="External"/><Relationship Id="rId5" Type="http://schemas.openxmlformats.org/officeDocument/2006/relationships/hyperlink" Target="https://github.com/dpatel49/sales-analytics-dashboard" TargetMode="External"/><Relationship Id="rId4" Type="http://schemas.openxmlformats.org/officeDocument/2006/relationships/hyperlink" Target="https://umbc-my.sharepoint.com/:u:/g/personal/dpatel49_umbc_edu/IQDQRpoYrhaDRZH4bbHz0VJkAfD5cgYnk0umoHTzE5R0Hdc?e=hejhgA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Brazilian E-Commerce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Analysis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457200" y="265176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 |  Tableau  |  Excel  |  AI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3291840"/>
            <a:ext cx="2560320" cy="128016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33375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96,478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3931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3291840"/>
            <a:ext cx="2560320" cy="128016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291840" y="33375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R$15.84M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291840" y="3931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3291840"/>
            <a:ext cx="2560320" cy="1280160"/>
          </a:xfrm>
          <a:prstGeom prst="rect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26480" y="333756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CSV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126480" y="3931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Sources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7E9C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by: Diya Patel  |  May 2026  |  Dataset: Olist Brazilian E-Commerce (Kaggle)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Problem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Brazilian e-commerce company needed to understand sales performance across 96,478 orders worth R$15.84M to make smarter business decisions.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0040" y="1965960"/>
            <a:ext cx="1920240" cy="141732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2011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20040" y="2395728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product categories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most revenue?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2468880" y="1965960"/>
            <a:ext cx="1920240" cy="141732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468880" y="2011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🚚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68880" y="2395728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states have worst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performance?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617720" y="1965960"/>
            <a:ext cx="1920240" cy="141732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617720" y="2011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📈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17720" y="2395728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will revenue look like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next 6 months?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766560" y="1965960"/>
            <a:ext cx="1920240" cy="141732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766560" y="20116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🔧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766560" y="2395728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logistics be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improved?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20040" y="3566160"/>
            <a:ext cx="8503920" cy="12344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02920" y="3639312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end-to-end analytics dashboard using Power BI, Tableau and Excel to answer these questions and provide actionable recommendations for project managers and logistics analysts.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Tools Used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384048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11480" y="126187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11480" y="1627632"/>
            <a:ext cx="36576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Olist Brazilian E-Commerce (Kaggle)
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Files: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CSV files
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96,478 total orders
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 2017 – August 2018
</a:t>
            </a: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Revenue: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R$15.84M total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89120" y="1188720"/>
            <a:ext cx="4480560" cy="210312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480560" y="126187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480560" y="1664208"/>
            <a:ext cx="1005840" cy="274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480560" y="1664208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577840" y="1682496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dashboard &amp; AI forecasting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80560" y="2048256"/>
            <a:ext cx="100584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480560" y="204825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77840" y="2066544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 visualization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80560" y="2432304"/>
            <a:ext cx="1005840" cy="274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480560" y="2432304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77840" y="2450592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 &amp; logistics KPIs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480560" y="2816352"/>
            <a:ext cx="1005840" cy="27432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480560" y="2816352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577840" y="2834640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 &amp; reports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429000"/>
            <a:ext cx="854964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57200" y="349300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Tables Used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858768"/>
            <a:ext cx="1280160" cy="777240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457200" y="3913632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1874520" y="3858768"/>
            <a:ext cx="1280160" cy="777240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874520" y="3913632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Items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3858768"/>
            <a:ext cx="1280160" cy="777240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3291840" y="3913632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09160" y="3858768"/>
            <a:ext cx="1280160" cy="777240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4709160" y="3913632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3858768"/>
            <a:ext cx="1280160" cy="777240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126480" y="3913632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543800" y="3858768"/>
            <a:ext cx="1280160" cy="777240"/>
          </a:xfrm>
          <a:prstGeom prst="rect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543800" y="3913632"/>
            <a:ext cx="1280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Translation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— 5 Pages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4206240" cy="1691640"/>
          </a:xfrm>
          <a:prstGeom prst="rect">
            <a:avLst/>
          </a:prstGeom>
          <a:solidFill>
            <a:srgbClr val="E0F2FE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274320" y="16459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2834640"/>
            <a:ext cx="4206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1: Revenue Overview1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846320" y="1152144"/>
            <a:ext cx="4206240" cy="1691640"/>
          </a:xfrm>
          <a:prstGeom prst="rect">
            <a:avLst/>
          </a:prstGeom>
          <a:solidFill>
            <a:srgbClr val="F0FDF4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846320" y="16459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846320" y="2843784"/>
            <a:ext cx="4206240" cy="173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2: Product &amp; Category Analysis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74320" y="3063240"/>
            <a:ext cx="4206240" cy="1691640"/>
          </a:xfrm>
          <a:prstGeom prst="rect">
            <a:avLst/>
          </a:prstGeom>
          <a:solidFill>
            <a:srgbClr val="FFF7ED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74320" y="3566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74320" y="4800600"/>
            <a:ext cx="4206240" cy="270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3: AI Forecast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846319" y="3063240"/>
            <a:ext cx="4257473" cy="1691640"/>
          </a:xfrm>
          <a:prstGeom prst="rect">
            <a:avLst/>
          </a:prstGeom>
          <a:solidFill>
            <a:srgbClr val="FDF4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846320" y="3566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4754880"/>
            <a:ext cx="4206240" cy="316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4: Logistic &amp; Delivery Map</a:t>
            </a:r>
            <a:endParaRPr lang="en-US" sz="110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03E61C7-82E0-758D-EEDC-CD8CB24630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1" y="1145445"/>
            <a:ext cx="4206240" cy="168919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886E252-A94D-4D4F-EAE8-908195A561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152144"/>
            <a:ext cx="4206240" cy="169164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01CC054E-D9EC-37A6-3B86-EB06FFFD302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4321" y="3063240"/>
            <a:ext cx="4206239" cy="169164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B7166469-A122-95C9-7B4F-F896444C78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18" y="3063240"/>
            <a:ext cx="4257473" cy="1691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52D1B2-A852-850E-AF5E-23F2A0862C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1D42D17-29F6-0BAA-609C-C9DF4B1BC3BA}"/>
              </a:ext>
            </a:extLst>
          </p:cNvPr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C01E74B-9CF6-0E0F-53F8-BA2624C26103}"/>
              </a:ext>
            </a:extLst>
          </p:cNvPr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— 5 Pages</a:t>
            </a:r>
            <a:endParaRPr lang="en-US" sz="28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0511C768-92F9-5B47-2EA9-C3795F464112}"/>
              </a:ext>
            </a:extLst>
          </p:cNvPr>
          <p:cNvSpPr/>
          <p:nvPr/>
        </p:nvSpPr>
        <p:spPr>
          <a:xfrm>
            <a:off x="0" y="96012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F2FCD625-6948-0724-7191-C14BC7D81584}"/>
              </a:ext>
            </a:extLst>
          </p:cNvPr>
          <p:cNvSpPr/>
          <p:nvPr/>
        </p:nvSpPr>
        <p:spPr>
          <a:xfrm>
            <a:off x="274320" y="1143000"/>
            <a:ext cx="8595360" cy="3154680"/>
          </a:xfrm>
          <a:prstGeom prst="rect">
            <a:avLst/>
          </a:prstGeom>
          <a:solidFill>
            <a:srgbClr val="E0F2FE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341C7A17-DC1B-9CA6-8EF3-0DC603D3284B}"/>
              </a:ext>
            </a:extLst>
          </p:cNvPr>
          <p:cNvSpPr/>
          <p:nvPr/>
        </p:nvSpPr>
        <p:spPr>
          <a:xfrm>
            <a:off x="274320" y="16459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04BCD8C-7DED-78F8-AD30-803109F8F2C1}"/>
              </a:ext>
            </a:extLst>
          </p:cNvPr>
          <p:cNvSpPr/>
          <p:nvPr/>
        </p:nvSpPr>
        <p:spPr>
          <a:xfrm>
            <a:off x="274320" y="4407408"/>
            <a:ext cx="8412479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5: Executive Summary</a:t>
            </a:r>
            <a:endParaRPr lang="en-US" sz="11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E287971C-744A-7119-F6C4-F50B734A2EC7}"/>
              </a:ext>
            </a:extLst>
          </p:cNvPr>
          <p:cNvSpPr/>
          <p:nvPr/>
        </p:nvSpPr>
        <p:spPr>
          <a:xfrm>
            <a:off x="4846320" y="164592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FE0E582-7FD4-863B-682E-33F2F801F581}"/>
              </a:ext>
            </a:extLst>
          </p:cNvPr>
          <p:cNvSpPr/>
          <p:nvPr/>
        </p:nvSpPr>
        <p:spPr>
          <a:xfrm>
            <a:off x="274320" y="3566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E71D52B2-59F2-D7EE-BF95-C2587FCB7754}"/>
              </a:ext>
            </a:extLst>
          </p:cNvPr>
          <p:cNvSpPr/>
          <p:nvPr/>
        </p:nvSpPr>
        <p:spPr>
          <a:xfrm>
            <a:off x="4846320" y="3566160"/>
            <a:ext cx="42062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EA48D79-9933-E67D-4253-DF89523F4D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143000"/>
            <a:ext cx="8595358" cy="3154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5133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Public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7315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8503920" cy="2743200"/>
          </a:xfrm>
          <a:prstGeom prst="rect">
            <a:avLst/>
          </a:prstGeom>
          <a:solidFill>
            <a:srgbClr val="E6FAF8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20040" y="201168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4023360"/>
            <a:ext cx="2651760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20040" y="4069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by Month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440740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revenue bar chart 2017–2018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00400" y="4023360"/>
            <a:ext cx="2651760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200400" y="4069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Categories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00400" y="440740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 chart by revenue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080760" y="4023360"/>
            <a:ext cx="2651760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080760" y="406908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Freight vs Price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80760" y="440740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2EB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 — 98,666 data points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AC2A0BFE-B517-E5E0-C4E8-2FFC29565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1170432"/>
            <a:ext cx="8503920" cy="271576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Key Business Findings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548640" cy="594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74320" y="1115568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960120" y="1115568"/>
            <a:ext cx="790956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051560" y="1161288"/>
            <a:ext cx="7726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R$15.84M total revenue across 96,478 orders. 10x growth from Jan 2017 to peak in Jan 2018.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883664"/>
            <a:ext cx="548640" cy="59436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274320" y="1883664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60120" y="1883664"/>
            <a:ext cx="790956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1051560" y="1929384"/>
            <a:ext cx="7726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CATEGORY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&amp; beauty is #1 revenue driver, followed by watches &amp; gifts and bed/bath/table products.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651760"/>
            <a:ext cx="548640" cy="59436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274320" y="2651760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960120" y="2651760"/>
            <a:ext cx="790956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051560" y="2697480"/>
            <a:ext cx="7726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CRISIS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Northern states (RR, AP, AM) show 25–30 day delivery times vs 10 days in São Paulo. Action needed.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3419856"/>
            <a:ext cx="548640" cy="5943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4320" y="3419856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60120" y="3419856"/>
            <a:ext cx="790956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051560" y="3465576"/>
            <a:ext cx="7726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Q4 revenue spike every year. January records highest monthly revenue — plan inventory 2 months ahead.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4187952"/>
            <a:ext cx="548640" cy="59436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4187952"/>
            <a:ext cx="548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60120" y="4187952"/>
            <a:ext cx="7909560" cy="594360"/>
          </a:xfrm>
          <a:prstGeom prst="rect">
            <a:avLst/>
          </a:prstGeom>
          <a:solidFill>
            <a:srgbClr val="EFF6FF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051560" y="4233672"/>
            <a:ext cx="7726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  </a:t>
            </a: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 of revenue concentrated in SP, RJ and MG states. Northern Brazil is untapped market opportunity.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Revenue Forecast — Next 6 Months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1097280"/>
          <a:ext cx="54864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1188720"/>
            <a:ext cx="283464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6080760" y="122529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Method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406640" y="1225296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built-in AI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89320" y="1664208"/>
            <a:ext cx="28346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080760" y="1700784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Interval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406640" y="1700784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95%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89320" y="2139696"/>
            <a:ext cx="283464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6080760" y="2176272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Seasonality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7406640" y="2176272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months (yearly)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989320" y="2615184"/>
            <a:ext cx="28346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080760" y="2651760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Period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406640" y="2651760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 2018 – Feb 2019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5989320" y="3090672"/>
            <a:ext cx="2834640" cy="411480"/>
          </a:xfrm>
          <a:prstGeom prst="rect">
            <a:avLst/>
          </a:prstGeom>
          <a:solidFill>
            <a:srgbClr val="EFF6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6080760" y="3127248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Range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406640" y="3127248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R$0.4M–R$0.7M/month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5989320" y="3566160"/>
            <a:ext cx="283464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080760" y="3602736"/>
            <a:ext cx="1371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2018 Outlook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7406640" y="3602736"/>
            <a:ext cx="13258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Seasonal peak expected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74320" y="4434840"/>
            <a:ext cx="8595360" cy="594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411480" y="4480560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Action: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 Q4 inventory before October 2018 • Increase marketing budget in Oct–Nov • Capitalize on January seasonal peak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Recommendations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228600" y="1115568"/>
            <a:ext cx="2743200" cy="502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228600" y="1143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  Project Managers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28600" y="1618488"/>
            <a:ext cx="2743200" cy="3246120"/>
          </a:xfrm>
          <a:prstGeom prst="rect">
            <a:avLst/>
          </a:prstGeom>
          <a:solidFill>
            <a:srgbClr val="EFF6FF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338328" y="1783080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38328" y="17830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67512" y="173736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 in northern Brazil logistics infrastructure — high ROI opportunity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" y="2788920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338328" y="27889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67512" y="27432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health &amp; beauty inventory before Q4 peak season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8328" y="3794760"/>
            <a:ext cx="256032" cy="256032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338328" y="37947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67512" y="374904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KPI target: reduce late deliveries by 40% in next quarter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154680" y="1115568"/>
            <a:ext cx="27432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3154680" y="1143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🚚  Logistics Analysts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154680" y="1618488"/>
            <a:ext cx="2743200" cy="3246120"/>
          </a:xfrm>
          <a:prstGeom prst="rect">
            <a:avLst/>
          </a:prstGeom>
          <a:solidFill>
            <a:srgbClr val="EFF6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3264408" y="1783080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3264408" y="17830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593592" y="173736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local couriers in RR, AP, AM states to cut delivery time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64408" y="2788920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3264408" y="27889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593592" y="27432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regional distribution center in Manaus to serve northern Brazil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264408" y="3794760"/>
            <a:ext cx="256032" cy="256032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3264408" y="37947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593592" y="374904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real-time delivery tracking to catch delays early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80760" y="1115568"/>
            <a:ext cx="2743200" cy="502920"/>
          </a:xfrm>
          <a:prstGeom prst="rect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080760" y="114300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Business Leadership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080760" y="1618488"/>
            <a:ext cx="2743200" cy="3246120"/>
          </a:xfrm>
          <a:prstGeom prst="rect">
            <a:avLst/>
          </a:prstGeom>
          <a:solidFill>
            <a:srgbClr val="EFF6FF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6190488" y="1783080"/>
            <a:ext cx="256032" cy="25603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6190488" y="178308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519672" y="173736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targeted marketing in underserved northern states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190488" y="2788920"/>
            <a:ext cx="256032" cy="25603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6190488" y="278892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519672" y="274320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product expansion on top 3 revenue categories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190488" y="3794760"/>
            <a:ext cx="256032" cy="256032"/>
          </a:xfrm>
          <a:prstGeom prst="ellipse">
            <a:avLst/>
          </a:prstGeom>
          <a:solidFill>
            <a:srgbClr val="6D28D9"/>
          </a:solidFill>
          <a:ln w="12700">
            <a:solidFill>
              <a:srgbClr val="6D28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190488" y="37947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519672" y="3749040"/>
            <a:ext cx="21945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seasonal forecast to plan annual Q4 budget allocation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0" y="960120"/>
            <a:ext cx="9144000" cy="7315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32004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Built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20040" y="1508760"/>
            <a:ext cx="292608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0040" y="150876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13232" y="151790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5-page Power BI dashboard (live on Power BI Service)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984248"/>
            <a:ext cx="292608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98424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13232" y="199339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3-sheet Tableau dashboard (live on Tableau Public)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0040" y="2459736"/>
            <a:ext cx="292608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20040" y="24597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13232" y="24688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pivot report with logistics KPIs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0040" y="2935224"/>
            <a:ext cx="292608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320040" y="293522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13232" y="29443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revenue forecast (6 months ahead)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20040" y="3410712"/>
            <a:ext cx="292608" cy="2926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20040" y="341071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13232" y="3419856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with PM &amp; logistics recommendations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5488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754880" y="1508760"/>
            <a:ext cx="128016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4754880" y="150876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126480" y="1527048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DAX, relationships, AI forecast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754880" y="1984248"/>
            <a:ext cx="128016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754880" y="1984248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126480" y="2002536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Worksheets, dashboard, scatter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54880" y="2459736"/>
            <a:ext cx="128016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4754880" y="2459736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126480" y="2478024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tables, KPI calculations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2935224"/>
            <a:ext cx="1280160" cy="3200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754880" y="2935224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126480" y="2953512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96,478 orders, 9 CSV files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754880" y="3410712"/>
            <a:ext cx="128016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754880" y="3410712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Story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126480" y="3429000"/>
            <a:ext cx="2743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for PM &amp; logistics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979408" y="0"/>
            <a:ext cx="164592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Shape 3"/>
          <p:cNvSpPr/>
          <p:nvPr/>
        </p:nvSpPr>
        <p:spPr>
          <a:xfrm>
            <a:off x="3200400" y="1874520"/>
            <a:ext cx="27432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Diya Patel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1828800" y="2743200"/>
            <a:ext cx="5486400" cy="664594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920240" y="2786812"/>
            <a:ext cx="5303520" cy="5773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Power BI Dashboard: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https://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app.powerbi.com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/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reportEmbed?reportId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=04626b64-0902-41bd-8d91-9f489b4989da&amp;autoAuth=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true&amp;ctid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=e9b87214-8e8f-4ad0-90ec-9d5c56c94931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28800" y="3479421"/>
            <a:ext cx="5486400" cy="624419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920240" y="3523034"/>
            <a:ext cx="5303520" cy="50253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 Tableau Public: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https://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umbc-my.sharepoint.com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/:u:/g/personal/dpatel49_umbc_edu/IQDQRpoYrhaDRZH4bbHz0VJkAfD5cgYnk0umoHTzE5R0Hdc?e=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/>
              </a:rPr>
              <a:t>hejhgA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828800" y="4169664"/>
            <a:ext cx="5486400" cy="384048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920240" y="4127576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GitHub Repository: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https://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github.com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/>
              </a:rPr>
              <a:t>/dpatel49/sales-analytics-dashboard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828800" y="4595800"/>
            <a:ext cx="5486400" cy="384048"/>
          </a:xfrm>
          <a:prstGeom prst="rect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920240" y="4553712"/>
            <a:ext cx="5303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📧  Email: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/>
              </a:rPr>
              <a:t>dpatel49@umbc.edu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758</Words>
  <Application>Microsoft Office PowerPoint</Application>
  <PresentationFormat>On-screen Show (16:9)</PresentationFormat>
  <Paragraphs>146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Brazilian E-Commerce Sales Analysis</dc:title>
  <dc:subject>PptxGenJS Presentation</dc:subject>
  <dc:creator>Diya Patel</dc:creator>
  <cp:lastModifiedBy>DIYA PATEL</cp:lastModifiedBy>
  <cp:revision>2</cp:revision>
  <dcterms:created xsi:type="dcterms:W3CDTF">2026-05-30T15:04:05Z</dcterms:created>
  <dcterms:modified xsi:type="dcterms:W3CDTF">2026-05-30T19:44:47Z</dcterms:modified>
</cp:coreProperties>
</file>